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F093F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vdo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39627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548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DevDoko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32688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3268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Final Year Project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35024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Social Media Platform</a:t>
            </a:r>
            <a:r>
              <a:rPr sz="3000" b="1">
                <a:solidFill>
                  <a:srgbClr val="667EEA"/>
                </a:solidFill>
                <a:latin typeface="Inter"/>
              </a:rPr>
              <a:t>
(DevDoko)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Inter"/>
              </a:rPr>
              <a:t>A social network built for developers.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98064"/>
            <a:ext cx="1847088" cy="365760"/>
          </a:xfrm>
          <a:prstGeom prst="roundRect">
            <a:avLst>
              <a:gd name="adj" fmla="val 20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92608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798064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Inter"/>
              </a:rPr>
              <a:t>Code Posts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2798064"/>
            <a:ext cx="1847088" cy="365760"/>
          </a:xfrm>
          <a:prstGeom prst="roundRect">
            <a:avLst>
              <a:gd name="adj" fmla="val 20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0" y="29260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798064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Inter"/>
              </a:rPr>
              <a:t>Groups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2798064"/>
            <a:ext cx="1847088" cy="365760"/>
          </a:xfrm>
          <a:prstGeom prst="roundRect">
            <a:avLst>
              <a:gd name="adj" fmla="val 20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00016" y="29260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2798064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Inter"/>
              </a:rPr>
              <a:t>Messaging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36976"/>
            <a:ext cx="1847088" cy="365760"/>
          </a:xfrm>
          <a:prstGeom prst="roundRect">
            <a:avLst>
              <a:gd name="adj" fmla="val 20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336499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236976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Inter"/>
              </a:rPr>
              <a:t>Jobs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96896" y="3236976"/>
            <a:ext cx="1847088" cy="365760"/>
          </a:xfrm>
          <a:prstGeom prst="roundRect">
            <a:avLst>
              <a:gd name="adj" fmla="val 20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200" y="336499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3236976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Inter"/>
              </a:rPr>
              <a:t>Marketplace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3712" y="3236976"/>
            <a:ext cx="1847088" cy="365760"/>
          </a:xfrm>
          <a:prstGeom prst="roundRect">
            <a:avLst>
              <a:gd name="adj" fmla="val 20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00016" y="33649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3236976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Inter"/>
              </a:rPr>
              <a:t>Stories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85615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85615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4A3B8"/>
                </a:solidFill>
                <a:latin typeface="Inter"/>
              </a:rPr>
              <a:t>Laravel 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3785615"/>
            <a:ext cx="954633" cy="274320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93392" y="3785615"/>
            <a:ext cx="95463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4A3B8"/>
                </a:solidFill>
                <a:latin typeface="Inter"/>
              </a:rPr>
              <a:t>PHP 8.2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39465" y="3785615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9465" y="3785615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4A3B8"/>
                </a:solidFill>
                <a:latin typeface="Inter"/>
              </a:rPr>
              <a:t>MySQL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0713" y="3785615"/>
            <a:ext cx="1364284" cy="274320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0713" y="3785615"/>
            <a:ext cx="13642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4A3B8"/>
                </a:solidFill>
                <a:latin typeface="Inter"/>
              </a:rPr>
              <a:t>Bootstrap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36437" y="3785615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36437" y="3785615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4A3B8"/>
                </a:solidFill>
                <a:latin typeface="Inter"/>
              </a:rPr>
              <a:t>Blade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169663"/>
            <a:ext cx="5760720" cy="1755648"/>
          </a:xfrm>
          <a:prstGeom prst="roundRect">
            <a:avLst>
              <a:gd name="adj" fmla="val 8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4169663"/>
            <a:ext cx="5760720" cy="310896"/>
          </a:xfrm>
          <a:prstGeom prst="roundRect">
            <a:avLst>
              <a:gd name="adj" fmla="val 30000"/>
            </a:avLst>
          </a:prstGeom>
          <a:solidFill>
            <a:srgbClr val="1C2338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4169663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FFFFFF"/>
                </a:solidFill>
                <a:latin typeface="Inter"/>
              </a:rPr>
              <a:t>Submitted By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169663"/>
            <a:ext cx="2615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Inter"/>
              </a:rPr>
              <a:t>4 members</a:t>
            </a:r>
          </a:p>
        </p:txBody>
      </p:sp>
      <p:sp>
        <p:nvSpPr>
          <p:cNvPr id="42" name="Oval 41"/>
          <p:cNvSpPr/>
          <p:nvPr/>
        </p:nvSpPr>
        <p:spPr>
          <a:xfrm>
            <a:off x="859536" y="4626863"/>
            <a:ext cx="109728" cy="109728"/>
          </a:xfrm>
          <a:prstGeom prst="ellipse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4535423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Narayan Shrestha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12664" y="4535423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2645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12664" y="4535423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3CDF8"/>
                </a:solidFill>
                <a:latin typeface="Inter"/>
              </a:rPr>
              <a:t>780627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" y="4974335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882895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Priyanka Karki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12664" y="4882895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2645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12664" y="4882895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3CDF8"/>
                </a:solidFill>
                <a:latin typeface="Inter"/>
              </a:rPr>
              <a:t>780637</a:t>
            </a:r>
          </a:p>
        </p:txBody>
      </p:sp>
      <p:sp>
        <p:nvSpPr>
          <p:cNvPr id="50" name="Oval 49"/>
          <p:cNvSpPr/>
          <p:nvPr/>
        </p:nvSpPr>
        <p:spPr>
          <a:xfrm>
            <a:off x="859536" y="5321807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" y="5230367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Simran Baral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12664" y="5230367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2645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12664" y="5230367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3CDF8"/>
                </a:solidFill>
                <a:latin typeface="Inter"/>
              </a:rPr>
              <a:t>780646</a:t>
            </a:r>
          </a:p>
        </p:txBody>
      </p:sp>
      <p:sp>
        <p:nvSpPr>
          <p:cNvPr id="54" name="Oval 53"/>
          <p:cNvSpPr/>
          <p:nvPr/>
        </p:nvSpPr>
        <p:spPr>
          <a:xfrm>
            <a:off x="859536" y="5669279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557783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Prekshya Rai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12664" y="5577839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E2645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12664" y="557783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3CDF8"/>
                </a:solidFill>
                <a:latin typeface="Inter"/>
              </a:rPr>
              <a:t>780635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01675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cap="all">
                <a:solidFill>
                  <a:srgbClr val="94A3B8"/>
                </a:solidFill>
                <a:latin typeface="Inter"/>
              </a:rPr>
              <a:t>Project Supervisor   </a:t>
            </a:r>
            <a:r>
              <a:rPr sz="1250" b="1">
                <a:solidFill>
                  <a:srgbClr val="FFFFFF"/>
                </a:solidFill>
                <a:latin typeface="Inter"/>
              </a:rPr>
              <a:t>Er. Hemant Kumar Goit</a:t>
            </a:r>
          </a:p>
        </p:txBody>
      </p:sp>
      <p:pic>
        <p:nvPicPr>
          <p:cNvPr id="59" name="Picture 58" descr="expl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51560"/>
            <a:ext cx="2926080" cy="1352084"/>
          </a:xfrm>
          <a:prstGeom prst="rect">
            <a:avLst/>
          </a:prstGeom>
        </p:spPr>
      </p:pic>
      <p:pic>
        <p:nvPicPr>
          <p:cNvPr id="60" name="Picture 59" descr="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148840"/>
            <a:ext cx="3931920" cy="1854841"/>
          </a:xfrm>
          <a:prstGeom prst="rect">
            <a:avLst/>
          </a:prstGeom>
        </p:spPr>
      </p:pic>
      <p:pic>
        <p:nvPicPr>
          <p:cNvPr id="61" name="Picture 60" descr="grou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160520"/>
            <a:ext cx="3291840" cy="155562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002536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Introduction &amp; </a:t>
            </a:r>
            <a:r>
              <a:rPr sz="3000" b="1">
                <a:solidFill>
                  <a:srgbClr val="667EEA"/>
                </a:solidFill>
                <a:latin typeface="Inter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Inter"/>
              </a:rPr>
              <a:t>Why a developer-first social network, and what the system sets out to solve.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1371600" cy="381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6634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Inter"/>
              </a:rPr>
              <a:t>General social platforms are not built for developers. Code loses its formatting, technical discussion gets buried, and hiring, learning and buying dev gear all live on separate sites.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19456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957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Inter"/>
              </a:rPr>
              <a:t>DevDoko puts posting, code sharing, groups, messaging, jobs, projects and a hardware marketplace into one Laravel application, so a developer never leaves the platform to go from learning to earning.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45152"/>
            <a:ext cx="2798064" cy="146304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82803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67EEA"/>
                </a:solidFill>
                <a:latin typeface="Inte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138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Share technical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468112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Rich posts with syntax-highlighted code snippets, images and tags.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645152"/>
            <a:ext cx="2798064" cy="146304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482803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67EEA"/>
                </a:solidFill>
                <a:latin typeface="Inte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5138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Build a developer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5468112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Follow, message, react and grow reputation through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45152"/>
            <a:ext cx="2798064" cy="146304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482803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67EEA"/>
                </a:solidFill>
                <a:latin typeface="Inte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5138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Collaborate in groups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5468112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Communities with roles, shared resources and events.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4645152"/>
            <a:ext cx="2798064" cy="146304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482803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67EEA"/>
                </a:solidFill>
                <a:latin typeface="Inter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5138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Create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5468112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Job board with applications plus a peer-to-peer marketplace.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02 ·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Tools We </a:t>
            </a:r>
            <a:r>
              <a:rPr sz="3000" b="1">
                <a:solidFill>
                  <a:srgbClr val="667EEA"/>
                </a:solidFill>
                <a:latin typeface="Inter"/>
              </a:rPr>
              <a:t>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Inter"/>
              </a:rPr>
              <a:t>Four tools build the whole website. Each one has a simple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1371600" cy="381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70048" cy="18288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2670048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667EEA"/>
              </a:gs>
              <a:gs pos="100000">
                <a:srgbClr val="667EE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E1A"/>
                </a:solidFill>
                <a:latin typeface="Inter"/>
              </a:rPr>
              <a:t>Laravel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667EEA"/>
                </a:solidFill>
                <a:latin typeface="Inter"/>
              </a:rP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Inter"/>
              </a:rPr>
              <a:t>Handles all the work — login, posting, sending messages.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94560"/>
            <a:ext cx="2670048" cy="18288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2194560"/>
            <a:ext cx="2670048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A78BFA"/>
              </a:gs>
              <a:gs pos="100000">
                <a:srgbClr val="A78BF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19456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E1A"/>
                </a:solidFill>
                <a:latin typeface="Inter"/>
              </a:rPr>
              <a:t>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834640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A78BFA"/>
                </a:solidFill>
                <a:latin typeface="Inter"/>
              </a:rPr>
              <a:t>The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3218688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Inter"/>
              </a:rPr>
              <a:t>Saves everything — users, posts, jobs, chats.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194560"/>
            <a:ext cx="2670048" cy="18288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6" y="2194560"/>
            <a:ext cx="2670048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06B6D4"/>
              </a:gs>
              <a:gs pos="100000">
                <a:srgbClr val="06B6D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19456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E1A"/>
                </a:solidFill>
                <a:latin typeface="Inter"/>
              </a:rPr>
              <a:t>Blade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834640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06B6D4"/>
                </a:solidFill>
                <a:latin typeface="Inter"/>
              </a:rPr>
              <a:t>The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218688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Inter"/>
              </a:rPr>
              <a:t>Builds every screen the user sees in the browser.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194560"/>
            <a:ext cx="2670048" cy="182880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24544" y="2194560"/>
            <a:ext cx="2670048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10B981"/>
              </a:gs>
              <a:gs pos="100000">
                <a:srgbClr val="10B98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219456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E1A"/>
                </a:solidFill>
                <a:latin typeface="Inter"/>
              </a:rPr>
              <a:t>Bootstrap + 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834640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0B981"/>
                </a:solidFill>
                <a:latin typeface="Inter"/>
              </a:rPr>
              <a:t>The 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3218688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Inter"/>
              </a:rPr>
              <a:t>Makes it look good and work without reloading the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How It Works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28032"/>
            <a:ext cx="2542032" cy="118872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5029200"/>
            <a:ext cx="329184" cy="329184"/>
          </a:xfrm>
          <a:prstGeom prst="ellipse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0292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A0E1A"/>
                </a:solidFill>
                <a:latin typeface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06577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User clicks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8640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Opens a page or presses a button.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528523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A334D"/>
                </a:solidFill>
                <a:latin typeface="Inter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38144" y="4828032"/>
            <a:ext cx="2542032" cy="118872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94176" y="5029200"/>
            <a:ext cx="329184" cy="32918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94176" y="50292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A0E1A"/>
                </a:solidFill>
                <a:latin typeface="Inter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8" y="506577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Laravel works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48640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Checks who you are, then does the task.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0176" y="528523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A334D"/>
                </a:solidFill>
                <a:latin typeface="Inter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4828032"/>
            <a:ext cx="2542032" cy="118872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92240" y="502920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0292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A0E1A"/>
                </a:solidFill>
                <a:latin typeface="Inter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506577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MySQL answers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48640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Gives back or saves the 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528523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A334D"/>
                </a:solidFill>
                <a:latin typeface="Inter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34272" y="4828032"/>
            <a:ext cx="2542032" cy="1188720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90304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50292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A0E1A"/>
                </a:solidFill>
                <a:latin typeface="Inter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9216" y="5065776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Page shows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0304" y="5486400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The result appears on the screen.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03 · 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Core Social </a:t>
            </a:r>
            <a:r>
              <a:rPr sz="3000" b="1">
                <a:solidFill>
                  <a:srgbClr val="667EEA"/>
                </a:solidFill>
                <a:latin typeface="Inter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Inter"/>
              </a:rPr>
              <a:t>The feed layer: how developers post, discover and react to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1371600" cy="381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602736" cy="190195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45720" cy="19019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06B6D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06B6D4"/>
                </a:solidFill>
                <a:latin typeface="Inter"/>
              </a:rPr>
              <a:t>01  </a:t>
            </a:r>
            <a:r>
              <a:rPr sz="1450" b="1">
                <a:solidFill>
                  <a:srgbClr val="FFFFFF"/>
                </a:solidFill>
                <a:latin typeface="Inter"/>
              </a:rPr>
              <a:t>Posts &amp; Code Snippets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30998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Text, image and code posts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Language-tagged snippets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Drafts, edit, pin &amp; share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Tag and #technology indexing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194560"/>
            <a:ext cx="3602736" cy="190195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2194560"/>
            <a:ext cx="45720" cy="19019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72B6"/>
              </a:gs>
              <a:gs pos="100000">
                <a:srgbClr val="F472B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395728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F472B6"/>
                </a:solidFill>
                <a:latin typeface="Inter"/>
              </a:rPr>
              <a:t>02  </a:t>
            </a:r>
            <a:r>
              <a:rPr sz="1450" b="1">
                <a:solidFill>
                  <a:srgbClr val="FFFFFF"/>
                </a:solidFill>
                <a:latin typeface="Inter"/>
              </a:rPr>
              <a:t>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761488"/>
            <a:ext cx="30998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472B6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24-hour ephemeral updates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472B6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Viewer list per story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472B6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Auto-expiry on read model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472B6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Image or text 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194560"/>
            <a:ext cx="3602736" cy="190195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2194560"/>
            <a:ext cx="45720" cy="19019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0B981"/>
              </a:gs>
              <a:gs pos="100000">
                <a:srgbClr val="10B98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395728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0B981"/>
                </a:solidFill>
                <a:latin typeface="Inter"/>
              </a:rPr>
              <a:t>03  </a:t>
            </a:r>
            <a:r>
              <a:rPr sz="1450" b="1">
                <a:solidFill>
                  <a:srgbClr val="FFFFFF"/>
                </a:solidFill>
                <a:latin typeface="Inter"/>
              </a:rPr>
              <a:t>Follow &amp; Reputation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761488"/>
            <a:ext cx="30998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Follow / unfollow developers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Followers &amp; following lists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Reputation log from activity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Block list for safety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24528"/>
            <a:ext cx="3602736" cy="190195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24528"/>
            <a:ext cx="45720" cy="19019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9E0B"/>
              </a:gs>
              <a:gs pos="100000">
                <a:srgbClr val="F59E0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25696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F59E0B"/>
                </a:solidFill>
                <a:latin typeface="Inter"/>
              </a:rPr>
              <a:t>04  </a:t>
            </a:r>
            <a:r>
              <a:rPr sz="1450" b="1">
                <a:solidFill>
                  <a:srgbClr val="FFFFFF"/>
                </a:solidFill>
                <a:latin typeface="Inter"/>
              </a:rPr>
              <a:t>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91456"/>
            <a:ext cx="30998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Like toggle on posts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Threaded comments &amp; replies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Comment likes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Save posts for later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Report inappropriate posts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224528"/>
            <a:ext cx="3602736" cy="190195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2544" y="4224528"/>
            <a:ext cx="45720" cy="19019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7EEA"/>
              </a:gs>
              <a:gs pos="100000">
                <a:srgbClr val="667EE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4425696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667EEA"/>
                </a:solidFill>
                <a:latin typeface="Inter"/>
              </a:rPr>
              <a:t>05  </a:t>
            </a:r>
            <a:r>
              <a:rPr sz="1450" b="1">
                <a:solidFill>
                  <a:srgbClr val="FFFFFF"/>
                </a:solidFill>
                <a:latin typeface="Inter"/>
              </a:rPr>
              <a:t>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791456"/>
            <a:ext cx="30998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667EE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Explore &amp; trending tech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667EE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Global search across entities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667EE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Developer directory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667EE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Feeds: following, popular, latest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4224528"/>
            <a:ext cx="3602736" cy="190195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5008" y="4224528"/>
            <a:ext cx="45720" cy="19019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78BFA"/>
              </a:gs>
              <a:gs pos="100000">
                <a:srgbClr val="A78BF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4425696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A78BFA"/>
                </a:solidFill>
                <a:latin typeface="Inter"/>
              </a:rPr>
              <a:t>06  </a:t>
            </a:r>
            <a:r>
              <a:rPr sz="1450" b="1">
                <a:solidFill>
                  <a:srgbClr val="FFFFFF"/>
                </a:solidFill>
                <a:latin typeface="Inter"/>
              </a:rPr>
              <a:t>Messaging &amp;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4791456"/>
            <a:ext cx="30998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A78BF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1-to-1 direct messages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A78BF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Emoji reactions &amp; starring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A78BF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Read receipts, message search</a:t>
            </a:r>
          </a:p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sz="1100" b="1">
                <a:solidFill>
                  <a:srgbClr val="A78BFA"/>
                </a:solidFill>
                <a:latin typeface="Inter"/>
              </a:rPr>
              <a:t>•  </a:t>
            </a:r>
            <a:r>
              <a:rPr sz="1100" b="0">
                <a:solidFill>
                  <a:srgbClr val="94A3B8"/>
                </a:solidFill>
                <a:latin typeface="Inter"/>
              </a:rPr>
              <a:t>Notification centre + counters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596896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04 ·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Groups, Projects &amp; </a:t>
            </a:r>
            <a:r>
              <a:rPr sz="3000" b="1">
                <a:solidFill>
                  <a:srgbClr val="667EEA"/>
                </a:solidFill>
                <a:latin typeface="Inter"/>
              </a:rPr>
              <a:t>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Inter"/>
              </a:rPr>
              <a:t>Where communities form and work actually gets built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1371600" cy="381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6903720" cy="391363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3230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Groups</a:t>
            </a:r>
            <a:r>
              <a:rPr sz="1100" b="0">
                <a:solidFill>
                  <a:srgbClr val="94A3B8"/>
                </a:solidFill>
                <a:latin typeface="Inter"/>
              </a:rPr>
              <a:t>  — the largest module (GroupController, 40 KB)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93522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871216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Membership &amp; Roles — </a:t>
            </a:r>
            <a:r>
              <a:rPr sz="1100" b="0">
                <a:solidFill>
                  <a:srgbClr val="94A3B8"/>
                </a:solidFill>
                <a:latin typeface="Inter"/>
              </a:rPr>
              <a:t>Join or request to join, approve/reject queues, promote members to admin or moderator, remove members, invite by token link.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575304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11296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Group Posts — </a:t>
            </a:r>
            <a:r>
              <a:rPr sz="1100" b="0">
                <a:solidFill>
                  <a:srgbClr val="94A3B8"/>
                </a:solidFill>
                <a:latin typeface="Inter"/>
              </a:rPr>
              <a:t>Post inside a group, like and comment, pin announcements, and flag posts as important so they surface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21538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151376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Shared Resources — </a:t>
            </a:r>
            <a:r>
              <a:rPr sz="1100" b="0">
                <a:solidFill>
                  <a:srgbClr val="94A3B8"/>
                </a:solidFill>
                <a:latin typeface="Inter"/>
              </a:rPr>
              <a:t>Upload files and links to a group library with download tracking and likes on each resource.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855464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791456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Events — </a:t>
            </a:r>
            <a:r>
              <a:rPr sz="1100" b="0">
                <a:solidFill>
                  <a:srgbClr val="94A3B8"/>
                </a:solidFill>
                <a:latin typeface="Inter"/>
              </a:rPr>
              <a:t>Create group events, list upcoming ones and mark attendance.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5495544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431536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Activity Log &amp; Discovery — </a:t>
            </a:r>
            <a:r>
              <a:rPr sz="1100" b="0">
                <a:solidFill>
                  <a:srgbClr val="94A3B8"/>
                </a:solidFill>
                <a:latin typeface="Inter"/>
              </a:rPr>
              <a:t>Every group action is logged for transparency; discover, recommended and trending listings help new members find groups.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194560"/>
            <a:ext cx="3822191" cy="391363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43230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283464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A portfolio and collaboration space attached to every developer profile.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9288" y="3529584"/>
            <a:ext cx="3246120" cy="548640"/>
          </a:xfrm>
          <a:prstGeom prst="roundRect">
            <a:avLst>
              <a:gd name="adj" fmla="val 14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359359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Publish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382219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Title, description, tech tags, repo and live links.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4169664"/>
            <a:ext cx="3246120" cy="548640"/>
          </a:xfrm>
          <a:prstGeom prst="roundRect">
            <a:avLst>
              <a:gd name="adj" fmla="val 14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423367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Fork a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46227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Clone a project into your own workspace.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9288" y="4809744"/>
            <a:ext cx="3246120" cy="548640"/>
          </a:xfrm>
          <a:prstGeom prst="roundRect">
            <a:avLst>
              <a:gd name="adj" fmla="val 14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48737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Collaboration 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51023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Ask to join, owner accepts or declines.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5449824"/>
            <a:ext cx="3246120" cy="548640"/>
          </a:xfrm>
          <a:prstGeom prst="roundRect">
            <a:avLst>
              <a:gd name="adj" fmla="val 14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551383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Project likes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574243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nter"/>
              </a:rPr>
              <a:t>Signal support and feed reputation.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05 ·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Jobs &amp; </a:t>
            </a:r>
            <a:r>
              <a:rPr sz="3000" b="1">
                <a:solidFill>
                  <a:srgbClr val="667EEA"/>
                </a:solidFill>
                <a:latin typeface="Inter"/>
              </a:rPr>
              <a:t>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Inter"/>
              </a:rPr>
              <a:t>The economic layer — hiring pipeline and peer-to-peer trading.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1371600" cy="381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94960" cy="391363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394960" cy="4572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F4444"/>
              </a:gs>
              <a:gs pos="100000">
                <a:srgbClr val="F59E0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E1A"/>
                </a:solidFill>
                <a:latin typeface="Inter"/>
              </a:rPr>
              <a:t>Job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529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1B2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8346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Post a job — </a:t>
            </a:r>
            <a:r>
              <a:rPr sz="1050" b="0">
                <a:solidFill>
                  <a:srgbClr val="94A3B8"/>
                </a:solidFill>
                <a:latin typeface="Inter"/>
              </a:rPr>
              <a:t>Employers publish roles with stack, type and 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01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1B2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8328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Browse publicly — </a:t>
            </a:r>
            <a:r>
              <a:rPr sz="1050" b="0">
                <a:solidFill>
                  <a:srgbClr val="94A3B8"/>
                </a:solidFill>
                <a:latin typeface="Inter"/>
              </a:rPr>
              <a:t>Job list and detail pages are open to guests, no login wall.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502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1B2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93192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Save jobs — </a:t>
            </a:r>
            <a:r>
              <a:rPr sz="1050" b="0">
                <a:solidFill>
                  <a:srgbClr val="94A3B8"/>
                </a:solidFill>
                <a:latin typeface="Inter"/>
              </a:rPr>
              <a:t>Bookmark roles to a personal saved 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988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1B2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48056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Apply — </a:t>
            </a:r>
            <a:r>
              <a:rPr sz="1050" b="0">
                <a:solidFill>
                  <a:srgbClr val="94A3B8"/>
                </a:solidFill>
                <a:latin typeface="Inter"/>
              </a:rPr>
              <a:t>Submit an application with cover note from the job page.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474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1B2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47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50292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Track applicants — </a:t>
            </a:r>
            <a:r>
              <a:rPr sz="1050" b="0">
                <a:solidFill>
                  <a:srgbClr val="94A3B8"/>
                </a:solidFill>
                <a:latin typeface="Inter"/>
              </a:rPr>
              <a:t>Job owner reviews applicants in one screen.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961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1B2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961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55778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Status updates — </a:t>
            </a:r>
            <a:r>
              <a:rPr sz="1050" b="0">
                <a:solidFill>
                  <a:srgbClr val="94A3B8"/>
                </a:solidFill>
                <a:latin typeface="Inter"/>
              </a:rPr>
              <a:t>Owner moves an application through its status; the applicant sees it under My Applications.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2194560"/>
            <a:ext cx="5394960" cy="3913632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53912" y="2194560"/>
            <a:ext cx="5394960" cy="4572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A78BFA"/>
              </a:gs>
              <a:gs pos="100000">
                <a:srgbClr val="667EE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21945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E1A"/>
                </a:solidFill>
                <a:latin typeface="Inter"/>
              </a:rPr>
              <a:t>Marketplace</a:t>
            </a:r>
          </a:p>
        </p:txBody>
      </p:sp>
      <p:sp>
        <p:nvSpPr>
          <p:cNvPr id="32" name="Oval 31"/>
          <p:cNvSpPr/>
          <p:nvPr/>
        </p:nvSpPr>
        <p:spPr>
          <a:xfrm>
            <a:off x="6428232" y="293522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283464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Listings with galleries — </a:t>
            </a:r>
            <a:r>
              <a:rPr sz="1050" b="0">
                <a:solidFill>
                  <a:srgbClr val="94A3B8"/>
                </a:solidFill>
                <a:latin typeface="Inter"/>
              </a:rPr>
              <a:t>Multiple images per listing, one marked primary.</a:t>
            </a:r>
          </a:p>
        </p:txBody>
      </p:sp>
      <p:sp>
        <p:nvSpPr>
          <p:cNvPr id="34" name="Oval 33"/>
          <p:cNvSpPr/>
          <p:nvPr/>
        </p:nvSpPr>
        <p:spPr>
          <a:xfrm>
            <a:off x="6428232" y="348386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38328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Categories — </a:t>
            </a:r>
            <a:r>
              <a:rPr sz="1050" b="0">
                <a:solidFill>
                  <a:srgbClr val="94A3B8"/>
                </a:solidFill>
                <a:latin typeface="Inter"/>
              </a:rPr>
              <a:t>Browse by category; slug-based listing URLs.</a:t>
            </a:r>
          </a:p>
        </p:txBody>
      </p:sp>
      <p:sp>
        <p:nvSpPr>
          <p:cNvPr id="36" name="Oval 35"/>
          <p:cNvSpPr/>
          <p:nvPr/>
        </p:nvSpPr>
        <p:spPr>
          <a:xfrm>
            <a:off x="6428232" y="403250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393192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Interest, not checkout — </a:t>
            </a:r>
            <a:r>
              <a:rPr sz="1050" b="0">
                <a:solidFill>
                  <a:srgbClr val="94A3B8"/>
                </a:solidFill>
                <a:latin typeface="Inter"/>
              </a:rPr>
              <a:t>Buyers send interest; sellers accept, decline or counter.</a:t>
            </a:r>
          </a:p>
        </p:txBody>
      </p:sp>
      <p:sp>
        <p:nvSpPr>
          <p:cNvPr id="38" name="Oval 37"/>
          <p:cNvSpPr/>
          <p:nvPr/>
        </p:nvSpPr>
        <p:spPr>
          <a:xfrm>
            <a:off x="6428232" y="458114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448056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Interest inbox — </a:t>
            </a:r>
            <a:r>
              <a:rPr sz="1050" b="0">
                <a:solidFill>
                  <a:srgbClr val="94A3B8"/>
                </a:solidFill>
                <a:latin typeface="Inter"/>
              </a:rPr>
              <a:t>Separate received and sent views, with a message thread per interest.</a:t>
            </a:r>
          </a:p>
        </p:txBody>
      </p:sp>
      <p:sp>
        <p:nvSpPr>
          <p:cNvPr id="40" name="Oval 39"/>
          <p:cNvSpPr/>
          <p:nvPr/>
        </p:nvSpPr>
        <p:spPr>
          <a:xfrm>
            <a:off x="6428232" y="512978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502920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Saved listings &amp; searches — </a:t>
            </a:r>
            <a:r>
              <a:rPr sz="1050" b="0">
                <a:solidFill>
                  <a:srgbClr val="94A3B8"/>
                </a:solidFill>
                <a:latin typeface="Inter"/>
              </a:rPr>
              <a:t>Bookmark items and store search filters for reuse.</a:t>
            </a:r>
          </a:p>
        </p:txBody>
      </p:sp>
      <p:sp>
        <p:nvSpPr>
          <p:cNvPr id="42" name="Oval 41"/>
          <p:cNvSpPr/>
          <p:nvPr/>
        </p:nvSpPr>
        <p:spPr>
          <a:xfrm>
            <a:off x="6428232" y="567842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557784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Reviews — </a:t>
            </a:r>
            <a:r>
              <a:rPr sz="1050" b="0">
                <a:solidFill>
                  <a:srgbClr val="94A3B8"/>
                </a:solidFill>
                <a:latin typeface="Inter"/>
              </a:rPr>
              <a:t>Rate the other party after a deal to build trust.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1B2240"/>
          </a:solidFill>
          <a:ln w="9525">
            <a:solidFill>
              <a:srgbClr val="3D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cap="all">
                <a:solidFill>
                  <a:srgbClr val="B9C4F5"/>
                </a:solidFill>
                <a:latin typeface="Inter"/>
              </a:rPr>
              <a:t>06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Conclusion &amp; </a:t>
            </a:r>
            <a:r>
              <a:rPr sz="3000" b="1">
                <a:solidFill>
                  <a:srgbClr val="667EEA"/>
                </a:solidFill>
                <a:latin typeface="Inter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Inter"/>
              </a:rPr>
              <a:t>What the system delivers today, and where it goes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1371600" cy="381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94960" cy="2432304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What 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98064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✓  </a:t>
            </a:r>
            <a:r>
              <a:rPr sz="1100" b="0">
                <a:solidFill>
                  <a:srgbClr val="94A3B8"/>
                </a:solidFill>
                <a:latin typeface="Inter"/>
              </a:rPr>
              <a:t>Six integrated modules in one Laravel 12 application.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✓  </a:t>
            </a:r>
            <a:r>
              <a:rPr sz="1100" b="0">
                <a:solidFill>
                  <a:srgbClr val="94A3B8"/>
                </a:solidFill>
                <a:latin typeface="Inter"/>
              </a:rPr>
              <a:t>Full authentication with registration, login and password reset.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✓  </a:t>
            </a:r>
            <a:r>
              <a:rPr sz="1100" b="0">
                <a:solidFill>
                  <a:srgbClr val="94A3B8"/>
                </a:solidFill>
                <a:latin typeface="Inter"/>
              </a:rPr>
              <a:t>Complete social graph: follow, block, message, notify.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✓  </a:t>
            </a:r>
            <a:r>
              <a:rPr sz="1100" b="0">
                <a:solidFill>
                  <a:srgbClr val="94A3B8"/>
                </a:solidFill>
                <a:latin typeface="Inter"/>
              </a:rPr>
              <a:t>Group system with roles, resources, events and audit logging.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✓  </a:t>
            </a:r>
            <a:r>
              <a:rPr sz="1100" b="0">
                <a:solidFill>
                  <a:srgbClr val="94A3B8"/>
                </a:solidFill>
                <a:latin typeface="Inter"/>
              </a:rPr>
              <a:t>Job pipeline from posting through to application status.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✓  </a:t>
            </a:r>
            <a:r>
              <a:rPr sz="1100" b="0">
                <a:solidFill>
                  <a:srgbClr val="94A3B8"/>
                </a:solidFill>
                <a:latin typeface="Inter"/>
              </a:rPr>
              <a:t>Marketplace with images, interests, saved searches and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2194560"/>
            <a:ext cx="5394960" cy="2432304"/>
          </a:xfrm>
          <a:prstGeom prst="roundRect">
            <a:avLst>
              <a:gd name="adj" fmla="val 6000"/>
            </a:avLst>
          </a:prstGeom>
          <a:solidFill>
            <a:srgbClr val="141A2B"/>
          </a:solidFill>
          <a:ln w="9525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4140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98064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→  </a:t>
            </a:r>
            <a:r>
              <a:rPr sz="1100" b="0">
                <a:solidFill>
                  <a:srgbClr val="94A3B8"/>
                </a:solidFill>
                <a:latin typeface="Inter"/>
              </a:rPr>
              <a:t>Real-time messaging and notifications over WebSockets.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→  </a:t>
            </a:r>
            <a:r>
              <a:rPr sz="1100" b="0">
                <a:solidFill>
                  <a:srgbClr val="94A3B8"/>
                </a:solidFill>
                <a:latin typeface="Inter"/>
              </a:rPr>
              <a:t>Public REST API plus a mobile client.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→  </a:t>
            </a:r>
            <a:r>
              <a:rPr sz="1100" b="0">
                <a:solidFill>
                  <a:srgbClr val="94A3B8"/>
                </a:solidFill>
                <a:latin typeface="Inter"/>
              </a:rPr>
              <a:t>Payment gateway so marketplace deals close on-platform.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→  </a:t>
            </a:r>
            <a:r>
              <a:rPr sz="1100" b="0">
                <a:solidFill>
                  <a:srgbClr val="94A3B8"/>
                </a:solidFill>
                <a:latin typeface="Inter"/>
              </a:rPr>
              <a:t>AI-assisted code review and tag suggestions on posts.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→  </a:t>
            </a:r>
            <a:r>
              <a:rPr sz="1100" b="0">
                <a:solidFill>
                  <a:srgbClr val="94A3B8"/>
                </a:solidFill>
                <a:latin typeface="Inter"/>
              </a:rPr>
              <a:t>Full-text search engine for posts, jobs and listings.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6B6D4"/>
                </a:solidFill>
                <a:latin typeface="Inter"/>
              </a:rPr>
              <a:t>→  </a:t>
            </a:r>
            <a:r>
              <a:rPr sz="1100" b="0">
                <a:solidFill>
                  <a:srgbClr val="94A3B8"/>
                </a:solidFill>
                <a:latin typeface="Inter"/>
              </a:rPr>
              <a:t>Analytics dashboard for group and job owners.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28032"/>
            <a:ext cx="10908792" cy="120700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AFA"/>
                </a:solidFill>
                <a:latin typeface="Inter"/>
              </a:rPr>
              <a:t>Narayan Shrestha (780627)  ·  Priyanka Karki (780637)  ·  Simran Baral (780646)  ·  Prekshya Rai (780635)      Supervisor: Er. Hemant Kumar Goit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27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DevDoko — Social Media Platform for Developers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27648"/>
            <a:ext cx="667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6680"/>
                </a:solidFill>
                <a:latin typeface="Inter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